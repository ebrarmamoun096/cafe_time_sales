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4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Time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Analysis: Questions, Answers &amp; Charts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2024 – Mar 2025  |  3,547 sales  |  8 drinks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data look like, and is it clean?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C3A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112,246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42032" y="14630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C3A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3,547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sales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26864" y="14630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C3A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6864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31.65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bill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11696" y="14630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C3A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11696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or duplicate rows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is clean: no duplicate rows, no missing values, and Date is a proper datetime column.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include both March 2024 and March 2025, so compare months with care.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Best-Selling Drinks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3 drinks are ordered the most?</a:t>
            </a:r>
            <a:endParaRPr lang="en-US" sz="1200" dirty="0"/>
          </a:p>
        </p:txBody>
      </p:sp>
      <p:pic>
        <p:nvPicPr>
          <p:cNvPr id="5" name="Image 0" descr="img/c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85481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17001" y="1371600"/>
            <a:ext cx="396979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Americano with Milk (809), Latte (757) and Americano (564).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they make up 60% of all orders.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Least-Selling Drinks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drinks are ordered the least?</a:t>
            </a:r>
            <a:endParaRPr lang="en-US" sz="1200" dirty="0"/>
          </a:p>
        </p:txBody>
      </p:sp>
      <p:pic>
        <p:nvPicPr>
          <p:cNvPr id="5" name="Image 0" descr="img/c10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85481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17001" y="1371600"/>
            <a:ext cx="396979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Espresso (129), Cocoa (239) and Hot Chocolate (276).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Cocoa and Hot Chocolate are low in volume but high in price — a growth opportunity.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Drink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drink earns the most? Is best-selling the same as most profitable?</a:t>
            </a:r>
            <a:endParaRPr lang="en-US" sz="1200" dirty="0"/>
          </a:p>
        </p:txBody>
      </p:sp>
      <p:pic>
        <p:nvPicPr>
          <p:cNvPr id="5" name="Image 0" descr="img/c13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195501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927021" y="1371600"/>
            <a:ext cx="475977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Latte leads with 26,875 (24%), then Americano with Milk (24,751) and Cappuccino (17,439).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= 61.5% of revenue.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same: Cappuccino is 4th in orders but 3rd in revenue; Americano is the reverse.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Distribution by Drink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average, lowest and highest price of each drink?</a:t>
            </a:r>
            <a:endParaRPr lang="en-US" sz="1200" dirty="0"/>
          </a:p>
        </p:txBody>
      </p:sp>
      <p:pic>
        <p:nvPicPr>
          <p:cNvPr id="5" name="Image 0" descr="img/c18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590544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322064" y="1371600"/>
            <a:ext cx="43647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price: Espresso 20.85, Cortado 25.73, Americano 25.98, Americano with Milk 30.59.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Latte, Cappuccino, Cocoa and Hot Chocolate sit at ~35.5–36.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vary within the same drink (e.g. Latte 32.82–38.70): worth checking for price changes or discounts.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Busiest Hours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hours of the day are the busiest?</a:t>
            </a:r>
            <a:endParaRPr lang="en-US" sz="1200" dirty="0"/>
          </a:p>
        </p:txBody>
      </p:sp>
      <p:pic>
        <p:nvPicPr>
          <p:cNvPr id="5" name="Image 0" descr="img/c21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30722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371600"/>
            <a:ext cx="2560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Peak: 10 am (328), 11 am (283), 4 pm (278).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Quiet: before 8 am and after 8 pm.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Hour and Weekday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sales spread across hours and days? (Revenue heatmap)</a:t>
            </a:r>
            <a:endParaRPr lang="en-US" sz="1200" dirty="0"/>
          </a:p>
        </p:txBody>
      </p:sp>
      <p:pic>
        <p:nvPicPr>
          <p:cNvPr id="5" name="Image 0" descr="img/c24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279298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371600"/>
            <a:ext cx="2560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Hottest cells: Tue 7 pm (1,737), Tue 11 am (1,728), Mon 10 am (1,651).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Coldest: 6–7 am, 10 pm and weekend evenings (e.g. Sun 7 pm: 373).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Morning, Afternoon &amp; Night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sales and drink choice change across the day?</a:t>
            </a:r>
            <a:endParaRPr lang="en-US" sz="1200" dirty="0"/>
          </a:p>
        </p:txBody>
      </p:sp>
      <p:pic>
        <p:nvPicPr>
          <p:cNvPr id="5" name="Image 0" descr="img/c27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29066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371600"/>
            <a:ext cx="2560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is similar: Morning 1,181 | Afternoon 1,205 | Night 1,161.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Morning: Americano with Milk leads (331). Afternoon and Night: Latte leads.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Night: Hot Chocolate + Cocoa = 253 orders vs. 107 in the morning.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Best-Selling Weekdays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days of the week sell the most?</a:t>
            </a:r>
            <a:endParaRPr lang="en-US" sz="1200" dirty="0"/>
          </a:p>
        </p:txBody>
      </p:sp>
      <p:pic>
        <p:nvPicPr>
          <p:cNvPr id="5" name="Image 0" descr="img/c30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85481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17001" y="1371600"/>
            <a:ext cx="396979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 leads (18,168; 572 orders), then Monday (17,363).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is the lowest (13,336; 419 orders).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Weekdays see ~20% more sales than the weekend.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Ranking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months sell the most? Is there a seasonal or weather link?</a:t>
            </a:r>
            <a:endParaRPr lang="en-US" sz="1200" dirty="0"/>
          </a:p>
        </p:txBody>
      </p:sp>
      <p:pic>
        <p:nvPicPr>
          <p:cNvPr id="5" name="Image 0" descr="img/c35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31527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371600"/>
            <a:ext cx="2560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Top: March (15,892), October (13,891), February (13,215).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Lowest: April (5,720) and January (6,399).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mixes two years and Jan–Feb are 2025 only, so check Year-Month before concluding a weather effect.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Across Weekdays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pattern in revenue during the week?</a:t>
            </a:r>
            <a:endParaRPr lang="en-US" sz="1200" dirty="0"/>
          </a:p>
        </p:txBody>
      </p:sp>
      <p:pic>
        <p:nvPicPr>
          <p:cNvPr id="5" name="Image 0" descr="img/c38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24691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371600"/>
            <a:ext cx="2560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rises early in the week (Mon–Tue peak), stays steady midweek, and falls on the weekend.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Bill by Weekday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average bill change by day?</a:t>
            </a:r>
            <a:endParaRPr lang="en-US" sz="1200" dirty="0"/>
          </a:p>
        </p:txBody>
      </p:sp>
      <p:pic>
        <p:nvPicPr>
          <p:cNvPr id="5" name="Image 0" descr="img/c41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31527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371600"/>
            <a:ext cx="2560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The average bill stays flat at ~31.3–31.9.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weekday gap comes from the number of customers, not spending per customer.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Trend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revenue increasing or decreasing over time?</a:t>
            </a:r>
            <a:endParaRPr lang="en-US" sz="1200" dirty="0"/>
          </a:p>
        </p:txBody>
      </p:sp>
      <p:pic>
        <p:nvPicPr>
          <p:cNvPr id="5" name="Image 0" descr="img/c44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2463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371600"/>
            <a:ext cx="2560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up or down trend; revenue swings seasonally, with peaks in Feb–Mar and Oct.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Bill by Month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average bill change through the year?</a:t>
            </a:r>
            <a:endParaRPr lang="en-US" sz="1200" dirty="0"/>
          </a:p>
        </p:txBody>
      </p:sp>
      <p:pic>
        <p:nvPicPr>
          <p:cNvPr id="5" name="Image 0" descr="img/c47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31527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371600"/>
            <a:ext cx="2560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in Apr–Jun (~34), lowest in Jul–Sep (28–29).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months show a lower bill; worth checking whether cheaper drinks dominate then.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Bill by Hour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some hours bring a higher bill?</a:t>
            </a:r>
            <a:endParaRPr lang="en-US" sz="1200" dirty="0"/>
          </a:p>
        </p:txBody>
      </p:sp>
      <p:pic>
        <p:nvPicPr>
          <p:cNvPr id="5" name="Image 0" descr="img/c50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25646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119154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bill grows through the day: ~29.9 at 6 am up to a peak of 33.85 at 7 pm.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Bill by Drink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average bill per drink?</a:t>
            </a:r>
            <a:endParaRPr lang="en-US" sz="1200" dirty="0"/>
          </a:p>
        </p:txBody>
      </p:sp>
      <p:pic>
        <p:nvPicPr>
          <p:cNvPr id="5" name="Image 0" descr="img/c52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195501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927021" y="1371600"/>
            <a:ext cx="475977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Espresso is the lowest (20.85) and Hot Chocolate the highest (35.99).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average bill: 31.65.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customers pay?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926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C3A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(3,547 sales)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5544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is the only payment method in the data.</a:t>
            </a:r>
            <a:endParaRPr lang="en-US" sz="14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whether cash sales are recorded in the system; if not, revenue may be under-reported.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A4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E5748"/>
          </a:solidFill>
          <a:ln w="12700">
            <a:solidFill>
              <a:srgbClr val="6E57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Focus on the stars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Latte and Americano with Milk = 46% of revenue; keep them in stock and fast to prepare.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E5748"/>
          </a:solidFill>
          <a:ln w="12700">
            <a:solidFill>
              <a:srgbClr val="6E57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Raise the bill value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an upgrade from Americano to Americano with Milk (+4.6) and promote Cappuccino.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E5748"/>
          </a:solidFill>
          <a:ln w="12700">
            <a:solidFill>
              <a:srgbClr val="6E57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Offers for quiet times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743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&amp; Sun, after 8 pm and before 8 am — e.g. a Happy Hour.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E5748"/>
          </a:solidFill>
          <a:ln w="12700">
            <a:solidFill>
              <a:srgbClr val="6E57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Staff scheduling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743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staff at 10–11 am and 4–5 pm, and on Mondays and Tuesdays.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E5748"/>
          </a:solidFill>
          <a:ln w="12700">
            <a:solidFill>
              <a:srgbClr val="6E57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Night drinks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Hot Chocolate and Cocoa in the evening; bundle Espresso in a combo (only 2.4% of revenue).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E5748"/>
          </a:solidFill>
          <a:ln w="12700">
            <a:solidFill>
              <a:srgbClr val="6E57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Payment &amp; data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cash sales are recorded (currently 100% card) and log the year with the month for cleaner comparisons.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2026-09-29T16:35:40Z</dcterms:created>
  <dcterms:modified xsi:type="dcterms:W3CDTF">2026-09-29T16:35:40Z</dcterms:modified>
</cp:coreProperties>
</file>