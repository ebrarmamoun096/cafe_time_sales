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E574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E5748"/>
                </a:solidFill>
                <a:latin typeface="Arial"/>
              </a:rPr>
              <a:t>Revenue by Drink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Drink</c:v>
                </c:pt>
              </c:strCache>
            </c:strRef>
          </c:tx>
          <c:spPr>
            <a:solidFill>
              <a:srgbClr val="BC7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A4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Latte</c:v>
                  </c:pt>
                  <c:pt idx="1">
                    <c:v>Amer. Milk</c:v>
                  </c:pt>
                  <c:pt idx="2">
                    <c:v>Cappuccino</c:v>
                  </c:pt>
                  <c:pt idx="3">
                    <c:v>Americano</c:v>
                  </c:pt>
                  <c:pt idx="4">
                    <c:v>Hot Choc.</c:v>
                  </c:pt>
                  <c:pt idx="5">
                    <c:v>Cocoa</c:v>
                  </c:pt>
                  <c:pt idx="6">
                    <c:v>Cortado</c:v>
                  </c:pt>
                  <c:pt idx="7">
                    <c:v>Espresso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26875</c:v>
                </c:pt>
                <c:pt idx="1">
                  <c:v>24751</c:v>
                </c:pt>
                <c:pt idx="2">
                  <c:v>17439</c:v>
                </c:pt>
                <c:pt idx="3">
                  <c:v>14650</c:v>
                </c:pt>
                <c:pt idx="4">
                  <c:v>9933</c:v>
                </c:pt>
                <c:pt idx="5">
                  <c:v>8521</c:v>
                </c:pt>
                <c:pt idx="6">
                  <c:v>7385</c:v>
                </c:pt>
                <c:pt idx="7">
                  <c:v>2690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A4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45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E574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E5748"/>
                </a:solidFill>
                <a:latin typeface="Arial"/>
              </a:rPr>
              <a:t>Number of Sales by Hour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Number of Sales by Hour</c:v>
                </c:pt>
              </c:strCache>
            </c:strRef>
          </c:tx>
          <c:spPr>
            <a:solidFill>
              <a:srgbClr val="BC7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A4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13</c:v>
                  </c:pt>
                  <c:pt idx="8">
                    <c:v>14</c:v>
                  </c:pt>
                  <c:pt idx="9">
                    <c:v>15</c:v>
                  </c:pt>
                  <c:pt idx="10">
                    <c:v>16</c:v>
                  </c:pt>
                  <c:pt idx="11">
                    <c:v>17</c:v>
                  </c:pt>
                  <c:pt idx="12">
                    <c:v>18</c:v>
                  </c:pt>
                  <c:pt idx="13">
                    <c:v>19</c:v>
                  </c:pt>
                  <c:pt idx="14">
                    <c:v>20</c:v>
                  </c:pt>
                  <c:pt idx="15">
                    <c:v>21</c:v>
                  </c:pt>
                  <c:pt idx="16">
                    <c:v>22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</c:v>
                </c:pt>
                <c:pt idx="1">
                  <c:v>88</c:v>
                </c:pt>
                <c:pt idx="2">
                  <c:v>235</c:v>
                </c:pt>
                <c:pt idx="3">
                  <c:v>242</c:v>
                </c:pt>
                <c:pt idx="4">
                  <c:v>328</c:v>
                </c:pt>
                <c:pt idx="5">
                  <c:v>283</c:v>
                </c:pt>
                <c:pt idx="6">
                  <c:v>241</c:v>
                </c:pt>
                <c:pt idx="7">
                  <c:v>225</c:v>
                </c:pt>
                <c:pt idx="8">
                  <c:v>225</c:v>
                </c:pt>
                <c:pt idx="9">
                  <c:v>236</c:v>
                </c:pt>
                <c:pt idx="10">
                  <c:v>278</c:v>
                </c:pt>
                <c:pt idx="11">
                  <c:v>237</c:v>
                </c:pt>
                <c:pt idx="12">
                  <c:v>218</c:v>
                </c:pt>
                <c:pt idx="13">
                  <c:v>229</c:v>
                </c:pt>
                <c:pt idx="14">
                  <c:v>169</c:v>
                </c:pt>
                <c:pt idx="15">
                  <c:v>195</c:v>
                </c:pt>
                <c:pt idx="16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A4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45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E574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E5748"/>
                </a:solidFill>
                <a:latin typeface="Arial"/>
              </a:rPr>
              <a:t>Revenue by Weekday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Weekday</c:v>
                </c:pt>
              </c:strCache>
            </c:strRef>
          </c:tx>
          <c:spPr>
            <a:solidFill>
              <a:srgbClr val="BC7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A4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17363</c:v>
                </c:pt>
                <c:pt idx="1">
                  <c:v>18168</c:v>
                </c:pt>
                <c:pt idx="2">
                  <c:v>15750</c:v>
                </c:pt>
                <c:pt idx="3">
                  <c:v>16091</c:v>
                </c:pt>
                <c:pt idx="4">
                  <c:v>16803</c:v>
                </c:pt>
                <c:pt idx="5">
                  <c:v>14734</c:v>
                </c:pt>
                <c:pt idx="6">
                  <c:v>13336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A4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45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E574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E5748"/>
                </a:solidFill>
                <a:latin typeface="Arial"/>
              </a:rPr>
              <a:t>Revenue by Month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Month</c:v>
                </c:pt>
              </c:strCache>
            </c:strRef>
          </c:tx>
          <c:spPr>
            <a:solidFill>
              <a:srgbClr val="6E5748"/>
            </a:solidFill>
            <a:ln w="25400" cap="flat">
              <a:solidFill>
                <a:srgbClr val="6E57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A454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E5748"/>
              </a:solidFill>
              <a:ln w="9525" cap="flat">
                <a:solidFill>
                  <a:srgbClr val="6E57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6399</c:v>
                </c:pt>
                <c:pt idx="1">
                  <c:v>13215</c:v>
                </c:pt>
                <c:pt idx="2">
                  <c:v>15892</c:v>
                </c:pt>
                <c:pt idx="3">
                  <c:v>5720</c:v>
                </c:pt>
                <c:pt idx="4">
                  <c:v>8164</c:v>
                </c:pt>
                <c:pt idx="5">
                  <c:v>7618</c:v>
                </c:pt>
                <c:pt idx="6">
                  <c:v>6916</c:v>
                </c:pt>
                <c:pt idx="7">
                  <c:v>7614</c:v>
                </c:pt>
                <c:pt idx="8">
                  <c:v>9989</c:v>
                </c:pt>
                <c:pt idx="9">
                  <c:v>13891</c:v>
                </c:pt>
                <c:pt idx="10">
                  <c:v>8591</c:v>
                </c:pt>
                <c:pt idx="11">
                  <c:v>8238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A454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45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E574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E5748"/>
                </a:solidFill>
                <a:latin typeface="Arial"/>
              </a:rPr>
              <a:t>Average Bill by Drink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Bill by Drink</c:v>
                </c:pt>
              </c:strCache>
            </c:strRef>
          </c:tx>
          <c:spPr>
            <a:solidFill>
              <a:srgbClr val="6E57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A4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Espresso</c:v>
                  </c:pt>
                  <c:pt idx="1">
                    <c:v>Cortado</c:v>
                  </c:pt>
                  <c:pt idx="2">
                    <c:v>Americano</c:v>
                  </c:pt>
                  <c:pt idx="3">
                    <c:v>Amer. Milk</c:v>
                  </c:pt>
                  <c:pt idx="4">
                    <c:v>Cocoa</c:v>
                  </c:pt>
                  <c:pt idx="5">
                    <c:v>Latte</c:v>
                  </c:pt>
                  <c:pt idx="6">
                    <c:v>Cappuccino</c:v>
                  </c:pt>
                  <c:pt idx="7">
                    <c:v>Hot Choc.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20.85</c:v>
                </c:pt>
                <c:pt idx="1">
                  <c:v>25.73</c:v>
                </c:pt>
                <c:pt idx="2">
                  <c:v>25.98</c:v>
                </c:pt>
                <c:pt idx="3">
                  <c:v>30.59</c:v>
                </c:pt>
                <c:pt idx="4">
                  <c:v>35.65</c:v>
                </c:pt>
                <c:pt idx="5">
                  <c:v>35.5</c:v>
                </c:pt>
                <c:pt idx="6">
                  <c:v>35.88</c:v>
                </c:pt>
                <c:pt idx="7">
                  <c:v>35.99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A4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45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Time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Analysis &amp; Recommendations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9C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2024 – Mar 2025  |  3,547 sales  |  8 drinks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E5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C3A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C7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112,246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42032" y="1280160"/>
            <a:ext cx="19202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C3A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2032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C7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3,547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42032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sales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26864" y="1280160"/>
            <a:ext cx="19202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C3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C7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bill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11696" y="1280160"/>
            <a:ext cx="19202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C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508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C7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or duplicate rows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is clean: no duplicate rows, no missing values, and Date is a proper datetime column.</a:t>
            </a:r>
            <a:endParaRPr lang="en-US" sz="15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sales were paid by card (100%) — there is no cash data.</a:t>
            </a:r>
            <a:endParaRPr lang="en-US" sz="15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include both March 2024 and March 2025, so compare months with care.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E5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Products: Best-Selling vs. Most Profitable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144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303520" y="100584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ordered: Americano with Milk (809), Latte (757), Americano (564).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revenue: Latte (26,875 = 24%), then Americano with Milk, then Cappuccino.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ordered: Espresso (129), Cocoa (239), Hot Chocolate (276).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gap: Cappuccino is 4th in orders but 3rd in revenue (higher price); Americano is the opposite.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E5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Timing: When Do We Sell?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1440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0" y="100584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Peak: 10 am (328), then 11 am (283), then 4 pm (278).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Quiet: before 8 am and after 8 pm.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periods are close: Morning 1,181 | Afternoon 1,205 | Night 1,161.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Morning: Americano with Milk leads (331). Afternoon and Night: Latte leads.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Night: Hot Chocolate + Cocoa = 253 orders vs. 107 in the morning (over 2x).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E5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&amp; Months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1440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914400"/>
          <a:ext cx="4114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6576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is the top day (18,168), Monday is second, and Sunday is the lowest (13,336).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Weekdays have ~20% more sales than the weekend (532 vs. 445 per day), while the average bill stays flat (~31.5) — the gap is in customer count.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months: March (15,892), October (13,891), February (13,215); lowest are April and January. No clear up or down trend — just seasonal swings.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E5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Payment Method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14400"/>
          <a:ext cx="4937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0" y="100584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average bill is 31.65, ranging from 20.85 (Espresso) to 35.99 (Hot Chocolate).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bill rises in the evening: from ~29.9 in the morning to a peak of 33.85 at 7 pm.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revenue windows: Monday and Tuesday, and the hours 10, 11 and 16.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Payment: 100% card (3,547 sales) — no other payment method.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4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E5748"/>
          </a:solidFill>
          <a:ln w="12700">
            <a:solidFill>
              <a:srgbClr val="6E57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Focus on the stars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463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Latte and Americano with Milk = 46% of revenue; keep them in stock and fast to prepare.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E5748"/>
          </a:solidFill>
          <a:ln w="12700">
            <a:solidFill>
              <a:srgbClr val="6E57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Raise the bill value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463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an upgrade from Americano to Americano with Milk (+4.6) and promote Cappuccino.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E5748"/>
          </a:solidFill>
          <a:ln w="12700">
            <a:solidFill>
              <a:srgbClr val="6E57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377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Offers for quiet times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 &amp; Sun, after 8 pm and before 8 am — e.g. a Happy Hour.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E5748"/>
          </a:solidFill>
          <a:ln w="12700">
            <a:solidFill>
              <a:srgbClr val="6E57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377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Staff scheduling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staff at 10–11 am and 4–5 pm, and on Mondays and Tuesdays.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E5748"/>
          </a:solidFill>
          <a:ln w="12700">
            <a:solidFill>
              <a:srgbClr val="6E57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657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Night drinks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23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Hot Chocolate and Cocoa in the evening; bundle Espresso in a combo (only 2.4% of revenue).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56616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E5748"/>
          </a:solidFill>
          <a:ln w="12700">
            <a:solidFill>
              <a:srgbClr val="6E574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3657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C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Payment &amp; data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4023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cash sales are recorded (currently 100% card) and log the year with the month for cleaner comparisons.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2026-09-28T23:30:18Z</dcterms:created>
  <dcterms:modified xsi:type="dcterms:W3CDTF">2026-09-28T23:30:18Z</dcterms:modified>
</cp:coreProperties>
</file>