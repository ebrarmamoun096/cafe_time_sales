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E574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E5748"/>
                </a:solidFill>
                <a:latin typeface="Arial"/>
              </a:rPr>
              <a:t>الإيراد حسب المشروب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 حسب المشروب</c:v>
                </c:pt>
              </c:strCache>
            </c:strRef>
          </c:tx>
          <c:spPr>
            <a:solidFill>
              <a:srgbClr val="BC7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A4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Latte</c:v>
                  </c:pt>
                  <c:pt idx="1">
                    <c:v>Amer. Milk</c:v>
                  </c:pt>
                  <c:pt idx="2">
                    <c:v>Cappuccino</c:v>
                  </c:pt>
                  <c:pt idx="3">
                    <c:v>Americano</c:v>
                  </c:pt>
                  <c:pt idx="4">
                    <c:v>Hot Choc.</c:v>
                  </c:pt>
                  <c:pt idx="5">
                    <c:v>Cocoa</c:v>
                  </c:pt>
                  <c:pt idx="6">
                    <c:v>Cortado</c:v>
                  </c:pt>
                  <c:pt idx="7">
                    <c:v>Espresso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26875</c:v>
                </c:pt>
                <c:pt idx="1">
                  <c:v>24751</c:v>
                </c:pt>
                <c:pt idx="2">
                  <c:v>17439</c:v>
                </c:pt>
                <c:pt idx="3">
                  <c:v>14650</c:v>
                </c:pt>
                <c:pt idx="4">
                  <c:v>9933</c:v>
                </c:pt>
                <c:pt idx="5">
                  <c:v>8521</c:v>
                </c:pt>
                <c:pt idx="6">
                  <c:v>7385</c:v>
                </c:pt>
                <c:pt idx="7">
                  <c:v>2690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A4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5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E574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E5748"/>
                </a:solidFill>
                <a:latin typeface="Arial"/>
              </a:rPr>
              <a:t>عدد العمليات حسب الساعة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العمليات حسب الساعة</c:v>
                </c:pt>
              </c:strCache>
            </c:strRef>
          </c:tx>
          <c:spPr>
            <a:solidFill>
              <a:srgbClr val="BC7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A4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Sheet1!$A$2:$A$18</c:f>
              <c:multiLvlStrCache>
                <c:ptCount val="17"/>
                <c:lvl>
                  <c:pt idx="0">
                    <c:v>6</c:v>
                  </c:pt>
                  <c:pt idx="1">
                    <c:v>7</c:v>
                  </c:pt>
                  <c:pt idx="2">
                    <c:v>8</c:v>
                  </c:pt>
                  <c:pt idx="3">
                    <c:v>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  <c:pt idx="13">
                    <c:v>19</c:v>
                  </c:pt>
                  <c:pt idx="14">
                    <c:v>20</c:v>
                  </c:pt>
                  <c:pt idx="15">
                    <c:v>21</c:v>
                  </c:pt>
                  <c:pt idx="16">
                    <c:v>22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5</c:v>
                </c:pt>
                <c:pt idx="1">
                  <c:v>88</c:v>
                </c:pt>
                <c:pt idx="2">
                  <c:v>235</c:v>
                </c:pt>
                <c:pt idx="3">
                  <c:v>242</c:v>
                </c:pt>
                <c:pt idx="4">
                  <c:v>328</c:v>
                </c:pt>
                <c:pt idx="5">
                  <c:v>283</c:v>
                </c:pt>
                <c:pt idx="6">
                  <c:v>241</c:v>
                </c:pt>
                <c:pt idx="7">
                  <c:v>225</c:v>
                </c:pt>
                <c:pt idx="8">
                  <c:v>225</c:v>
                </c:pt>
                <c:pt idx="9">
                  <c:v>236</c:v>
                </c:pt>
                <c:pt idx="10">
                  <c:v>278</c:v>
                </c:pt>
                <c:pt idx="11">
                  <c:v>237</c:v>
                </c:pt>
                <c:pt idx="12">
                  <c:v>218</c:v>
                </c:pt>
                <c:pt idx="13">
                  <c:v>229</c:v>
                </c:pt>
                <c:pt idx="14">
                  <c:v>169</c:v>
                </c:pt>
                <c:pt idx="15">
                  <c:v>195</c:v>
                </c:pt>
                <c:pt idx="16">
                  <c:v>113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A4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5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E574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E5748"/>
                </a:solidFill>
                <a:latin typeface="Arial"/>
              </a:rPr>
              <a:t>الإيراد حسب اليوم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 حسب اليوم</c:v>
                </c:pt>
              </c:strCache>
            </c:strRef>
          </c:tx>
          <c:spPr>
            <a:solidFill>
              <a:srgbClr val="BC7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A4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17363</c:v>
                </c:pt>
                <c:pt idx="1">
                  <c:v>18168</c:v>
                </c:pt>
                <c:pt idx="2">
                  <c:v>15750</c:v>
                </c:pt>
                <c:pt idx="3">
                  <c:v>16091</c:v>
                </c:pt>
                <c:pt idx="4">
                  <c:v>16803</c:v>
                </c:pt>
                <c:pt idx="5">
                  <c:v>14734</c:v>
                </c:pt>
                <c:pt idx="6">
                  <c:v>13336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A4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5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E574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E5748"/>
                </a:solidFill>
                <a:latin typeface="Arial"/>
              </a:rPr>
              <a:t>الإيراد حسب الشهر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الإيراد حسب الشهر</c:v>
                </c:pt>
              </c:strCache>
            </c:strRef>
          </c:tx>
          <c:spPr>
            <a:solidFill>
              <a:srgbClr val="6E5748"/>
            </a:solidFill>
            <a:ln w="25400" cap="flat">
              <a:solidFill>
                <a:srgbClr val="6E574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A454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E5748"/>
              </a:solidFill>
              <a:ln w="9525" cap="flat">
                <a:solidFill>
                  <a:srgbClr val="6E574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6399</c:v>
                </c:pt>
                <c:pt idx="1">
                  <c:v>13215</c:v>
                </c:pt>
                <c:pt idx="2">
                  <c:v>15892</c:v>
                </c:pt>
                <c:pt idx="3">
                  <c:v>5720</c:v>
                </c:pt>
                <c:pt idx="4">
                  <c:v>8164</c:v>
                </c:pt>
                <c:pt idx="5">
                  <c:v>7618</c:v>
                </c:pt>
                <c:pt idx="6">
                  <c:v>6916</c:v>
                </c:pt>
                <c:pt idx="7">
                  <c:v>7614</c:v>
                </c:pt>
                <c:pt idx="8">
                  <c:v>9989</c:v>
                </c:pt>
                <c:pt idx="9">
                  <c:v>13891</c:v>
                </c:pt>
                <c:pt idx="10">
                  <c:v>8591</c:v>
                </c:pt>
                <c:pt idx="11">
                  <c:v>8238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A454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5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E574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E5748"/>
                </a:solidFill>
                <a:latin typeface="Arial"/>
              </a:rPr>
              <a:t>متوسط سعر الفاتورة حسب المشروب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متوسط سعر الفاتورة حسب المشروب</c:v>
                </c:pt>
              </c:strCache>
            </c:strRef>
          </c:tx>
          <c:spPr>
            <a:solidFill>
              <a:srgbClr val="6E57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4A4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Espresso</c:v>
                  </c:pt>
                  <c:pt idx="1">
                    <c:v>Cortado</c:v>
                  </c:pt>
                  <c:pt idx="2">
                    <c:v>Americano</c:v>
                  </c:pt>
                  <c:pt idx="3">
                    <c:v>Amer. Milk</c:v>
                  </c:pt>
                  <c:pt idx="4">
                    <c:v>Cocoa</c:v>
                  </c:pt>
                  <c:pt idx="5">
                    <c:v>Latte</c:v>
                  </c:pt>
                  <c:pt idx="6">
                    <c:v>Cappuccino</c:v>
                  </c:pt>
                  <c:pt idx="7">
                    <c:v>Hot Choc.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20.85</c:v>
                </c:pt>
                <c:pt idx="1">
                  <c:v>25.73</c:v>
                </c:pt>
                <c:pt idx="2">
                  <c:v>25.98</c:v>
                </c:pt>
                <c:pt idx="3">
                  <c:v>30.59</c:v>
                </c:pt>
                <c:pt idx="4">
                  <c:v>35.65</c:v>
                </c:pt>
                <c:pt idx="5">
                  <c:v>35.5</c:v>
                </c:pt>
                <c:pt idx="6">
                  <c:v>35.88</c:v>
                </c:pt>
                <c:pt idx="7">
                  <c:v>35.99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4A4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5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4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5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Time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تحليل المبيعات والتوصيات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D9C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مارس 2024 – مارس 2025  |  3,547 عملية بيع  |  8 مشروبات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 على البيانات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711696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C3A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11696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112,246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711696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 الإيراد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26864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C3A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26864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3,547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626864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عمليات البيع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42032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C3A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42032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31.65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542032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الفاتورة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28016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C3A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15087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BC7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قيم ناقصة أو مكررة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نظيفة: لا يوجد صفوف مكررة ولا قيم ناقصة، وعمود Date بصيغة datetime.</a:t>
            </a:r>
            <a:endParaRPr lang="en-US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عمليات البيع مسجلة بالكارت (100%) — لا توجد بيانات دفع كاش.</a:t>
            </a:r>
            <a:endParaRPr lang="en-US" sz="15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الأشهر تشمل مارس 2024 ومارس 2025 معاً، فقارنها بحذر.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المنتجات: الأكثر طلباً والأكثر ربحاً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03520" y="100584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الأكثر مبيعاً (عدد): Americano with Milk (809)، Latte (757)، Americano (564).</a:t>
            </a:r>
            <a:endParaRPr lang="en-US" sz="13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الأعلى إيراداً: Latte (26,875 = 24%)، ثم Americano with Milk، ثم Cappuccino.</a:t>
            </a:r>
            <a:endParaRPr lang="en-US" sz="13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الأقل مبيعاً: Espresso (129)، Cocoa (239)، Hot Chocolate (276).</a:t>
            </a:r>
            <a:endParaRPr lang="en-US" sz="13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فرق مهم: Cappuccino رابع في الطلبات لكن ثالث في الإيراد (سعر أعلى)، وAmericano العكس.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التوقيت: متى نبيع؟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669280" y="1005840"/>
            <a:ext cx="3108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الذروة: الساعة 10 (328) ثم 11 (283) ثم 16 (278).</a:t>
            </a:r>
            <a:endParaRPr lang="en-US" sz="12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الهدوء: قبل 8 صباحاً وبعد 20:00.</a:t>
            </a:r>
            <a:endParaRPr lang="en-US" sz="12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الفترات الثلاث متقاربة: صباح 1,181 | ظهر 1,205 | ليل 1,161.</a:t>
            </a:r>
            <a:endParaRPr lang="en-US" sz="12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الصباح: Americano with Milk الأول (331). الظهر والليل: Latte الأول.</a:t>
            </a:r>
            <a:endParaRPr lang="en-US" sz="12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الليل: Hot Chocolate + Cocoa = 253 طلب مقابل 107 صباحاً (أكثر من الضعف).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الأيام والشهور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91440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657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الثلاثاء الأعلى (18,168) والاثنين ثانياً، والأحد الأقل (13,336).</a:t>
            </a:r>
            <a:endParaRPr lang="en-US" sz="11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أيام الأسبوع فيها عمليات أكثر بنحو 20% من الويكند (532 مقابل 445 يومياً)، ومتوسط الفاتورة ثابت (~31.5) — الفرق في عدد الزبائن.</a:t>
            </a:r>
            <a:endParaRPr lang="en-US" sz="11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أعلى الشهور: مارس (15,892) ثم أكتوبر (13,891) ثم فبراير (13,215)، وأقلها أبريل ويناير. لا يوجد اتجاه صعود أو هبوط واضح — تذبذب موسمي.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6E5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الإيراد وطريقة الدفع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1440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005840"/>
            <a:ext cx="3291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متوسط الفاتورة الكلي 31.65، ويتراوح من 20.85 (Espresso) إلى 35.99 (Hot Chocolate).</a:t>
            </a:r>
            <a:endParaRPr lang="en-US" sz="13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الفاتورة ترتفع مساءً: من ~29.9 صباحاً إلى أعلى قيمة 33.85 عند الساعة 19.</a:t>
            </a:r>
            <a:endParaRPr lang="en-US" sz="13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توقيتات الإيراد: الاثنين والثلاثاء، والساعات 10 و11 و16.</a:t>
            </a:r>
            <a:endParaRPr lang="en-US" sz="1300" dirty="0"/>
          </a:p>
          <a:p>
            <a:pPr rtl="1" algn="r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A4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الدفع: 100% كارت (3,547 عملية) — لا توجد طريقة دفع أخرى.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4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التوصيات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663440" y="10058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0060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ركّز على النجوم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Latte وAmericano with Milk = 46% من الإيراد؛ تأكد من توفرهما وسرعة تحضيرهما.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ارفع قيمة الفاتورة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463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اعرض ترقية Americano إلى Americano with Milk (+4.6) وروّج Cappuccino.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عروض للأوقات الهادئة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43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أحد وسبت، وبعد الساعة 20:00 وقبل 8 صباحاً، مثل Happy Hour.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جدولة الموظفين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27432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زوّد الطاقم في 10–11 و16–17 وأيام الاثنين والثلاثاء.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مشروبات الليل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روّج Hot Chocolate وCocoa مساءً؛ وادمج Espresso في كومبو لأن إيراده 2.4% فقط.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6E5748"/>
          </a:solidFill>
          <a:ln w="12700">
            <a:solidFill>
              <a:srgbClr val="6E57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CB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الدفع والبيانات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40233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تأكد أن مبيعات الكاش مسجلة (الحالي 100% كارت)، وسجّل السنة مع الشهر لمقارنة أدق.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2026-09-28T22:50:24Z</dcterms:created>
  <dcterms:modified xsi:type="dcterms:W3CDTF">2026-09-28T22:50:24Z</dcterms:modified>
</cp:coreProperties>
</file>